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2" r:id="rId6"/>
    <p:sldId id="278" r:id="rId7"/>
    <p:sldId id="293" r:id="rId8"/>
    <p:sldId id="258" r:id="rId9"/>
    <p:sldId id="280" r:id="rId10"/>
    <p:sldId id="281" r:id="rId11"/>
    <p:sldId id="287" r:id="rId12"/>
    <p:sldId id="288" r:id="rId13"/>
    <p:sldId id="289" r:id="rId14"/>
    <p:sldId id="290" r:id="rId15"/>
    <p:sldId id="291" r:id="rId16"/>
    <p:sldId id="282" r:id="rId17"/>
    <p:sldId id="28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D6310-0339-44F7-9675-86437592702B}" v="69" dt="2026-01-31T22:09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106" d="100"/>
          <a:sy n="106" d="100"/>
        </p:scale>
        <p:origin x="792" y="31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Andujo" userId="c99a348103822942" providerId="LiveId" clId="{4E201F60-5F09-4D3E-A7BF-7C5A5C9B74F9}"/>
    <pc:docChg chg="undo redo custSel addSld delSld modSld">
      <pc:chgData name="Ruben Andujo" userId="c99a348103822942" providerId="LiveId" clId="{4E201F60-5F09-4D3E-A7BF-7C5A5C9B74F9}" dt="2026-02-04T17:48:54.637" v="451" actId="20577"/>
      <pc:docMkLst>
        <pc:docMk/>
      </pc:docMkLst>
      <pc:sldChg chg="modSp mod">
        <pc:chgData name="Ruben Andujo" userId="c99a348103822942" providerId="LiveId" clId="{4E201F60-5F09-4D3E-A7BF-7C5A5C9B74F9}" dt="2026-02-04T17:48:54.637" v="451" actId="20577"/>
        <pc:sldMkLst>
          <pc:docMk/>
          <pc:sldMk cId="1969787568" sldId="271"/>
        </pc:sldMkLst>
        <pc:spChg chg="mod">
          <ac:chgData name="Ruben Andujo" userId="c99a348103822942" providerId="LiveId" clId="{4E201F60-5F09-4D3E-A7BF-7C5A5C9B74F9}" dt="2026-02-04T17:48:54.637" v="451" actId="20577"/>
          <ac:spMkLst>
            <pc:docMk/>
            <pc:sldMk cId="1969787568" sldId="271"/>
            <ac:spMk id="3" creationId="{AF64C29E-DF30-4DC6-AB95-2016F9A703B6}"/>
          </ac:spMkLst>
        </pc:spChg>
      </pc:sldChg>
      <pc:sldChg chg="addSp delSp modSp mod">
        <pc:chgData name="Ruben Andujo" userId="c99a348103822942" providerId="LiveId" clId="{4E201F60-5F09-4D3E-A7BF-7C5A5C9B74F9}" dt="2026-01-31T21:41:52.301" v="113" actId="1076"/>
        <pc:sldMkLst>
          <pc:docMk/>
          <pc:sldMk cId="103458723" sldId="281"/>
        </pc:sldMkLst>
        <pc:spChg chg="add mod">
          <ac:chgData name="Ruben Andujo" userId="c99a348103822942" providerId="LiveId" clId="{4E201F60-5F09-4D3E-A7BF-7C5A5C9B74F9}" dt="2026-01-31T21:41:52.301" v="113" actId="1076"/>
          <ac:spMkLst>
            <pc:docMk/>
            <pc:sldMk cId="103458723" sldId="281"/>
            <ac:spMk id="4" creationId="{B090C86F-6C31-7ACA-A7B4-4CB511A797CA}"/>
          </ac:spMkLst>
        </pc:spChg>
        <pc:picChg chg="add mod">
          <ac:chgData name="Ruben Andujo" userId="c99a348103822942" providerId="LiveId" clId="{4E201F60-5F09-4D3E-A7BF-7C5A5C9B74F9}" dt="2026-01-31T21:38:10.300" v="80" actId="1076"/>
          <ac:picMkLst>
            <pc:docMk/>
            <pc:sldMk cId="103458723" sldId="281"/>
            <ac:picMk id="11" creationId="{1025C368-2401-76F8-A48B-890E544A4CF6}"/>
          </ac:picMkLst>
        </pc:picChg>
      </pc:sldChg>
      <pc:sldChg chg="addSp delSp modSp add mod">
        <pc:chgData name="Ruben Andujo" userId="c99a348103822942" providerId="LiveId" clId="{4E201F60-5F09-4D3E-A7BF-7C5A5C9B74F9}" dt="2026-01-31T21:46:12.244" v="150" actId="255"/>
        <pc:sldMkLst>
          <pc:docMk/>
          <pc:sldMk cId="3185083167" sldId="287"/>
        </pc:sldMkLst>
        <pc:spChg chg="mod">
          <ac:chgData name="Ruben Andujo" userId="c99a348103822942" providerId="LiveId" clId="{4E201F60-5F09-4D3E-A7BF-7C5A5C9B74F9}" dt="2026-01-31T21:46:12.244" v="150" actId="255"/>
          <ac:spMkLst>
            <pc:docMk/>
            <pc:sldMk cId="3185083167" sldId="287"/>
            <ac:spMk id="4" creationId="{427F9BF7-2EEA-C9D3-E5F8-74423F4139A8}"/>
          </ac:spMkLst>
        </pc:spChg>
        <pc:picChg chg="add mod">
          <ac:chgData name="Ruben Andujo" userId="c99a348103822942" providerId="LiveId" clId="{4E201F60-5F09-4D3E-A7BF-7C5A5C9B74F9}" dt="2026-01-31T21:43:45.683" v="121" actId="1076"/>
          <ac:picMkLst>
            <pc:docMk/>
            <pc:sldMk cId="3185083167" sldId="287"/>
            <ac:picMk id="3" creationId="{718ACB55-318E-7CBF-259E-F39ADB75428D}"/>
          </ac:picMkLst>
        </pc:picChg>
      </pc:sldChg>
      <pc:sldChg chg="addSp delSp modSp add mod">
        <pc:chgData name="Ruben Andujo" userId="c99a348103822942" providerId="LiveId" clId="{4E201F60-5F09-4D3E-A7BF-7C5A5C9B74F9}" dt="2026-01-31T21:48:46.132" v="184" actId="122"/>
        <pc:sldMkLst>
          <pc:docMk/>
          <pc:sldMk cId="50656491" sldId="288"/>
        </pc:sldMkLst>
        <pc:spChg chg="mod">
          <ac:chgData name="Ruben Andujo" userId="c99a348103822942" providerId="LiveId" clId="{4E201F60-5F09-4D3E-A7BF-7C5A5C9B74F9}" dt="2026-01-31T21:48:46.132" v="184" actId="122"/>
          <ac:spMkLst>
            <pc:docMk/>
            <pc:sldMk cId="50656491" sldId="288"/>
            <ac:spMk id="4" creationId="{6E1A7EBE-678C-3DD8-0951-03662D301F6A}"/>
          </ac:spMkLst>
        </pc:spChg>
        <pc:picChg chg="add mod">
          <ac:chgData name="Ruben Andujo" userId="c99a348103822942" providerId="LiveId" clId="{4E201F60-5F09-4D3E-A7BF-7C5A5C9B74F9}" dt="2026-01-31T21:47:14.494" v="156" actId="14100"/>
          <ac:picMkLst>
            <pc:docMk/>
            <pc:sldMk cId="50656491" sldId="288"/>
            <ac:picMk id="5" creationId="{4926C3B7-AFFC-82EB-5696-76D8F6E34D42}"/>
          </ac:picMkLst>
        </pc:picChg>
      </pc:sldChg>
      <pc:sldChg chg="addSp delSp modSp add mod">
        <pc:chgData name="Ruben Andujo" userId="c99a348103822942" providerId="LiveId" clId="{4E201F60-5F09-4D3E-A7BF-7C5A5C9B74F9}" dt="2026-01-31T21:53:41.767" v="262" actId="14100"/>
        <pc:sldMkLst>
          <pc:docMk/>
          <pc:sldMk cId="1505980781" sldId="289"/>
        </pc:sldMkLst>
        <pc:spChg chg="mod">
          <ac:chgData name="Ruben Andujo" userId="c99a348103822942" providerId="LiveId" clId="{4E201F60-5F09-4D3E-A7BF-7C5A5C9B74F9}" dt="2026-01-31T21:53:02.352" v="254" actId="20577"/>
          <ac:spMkLst>
            <pc:docMk/>
            <pc:sldMk cId="1505980781" sldId="289"/>
            <ac:spMk id="4" creationId="{D33CC4DD-6EEF-365E-FFB7-776ADB26B0F3}"/>
          </ac:spMkLst>
        </pc:spChg>
        <pc:picChg chg="add mod">
          <ac:chgData name="Ruben Andujo" userId="c99a348103822942" providerId="LiveId" clId="{4E201F60-5F09-4D3E-A7BF-7C5A5C9B74F9}" dt="2026-01-31T21:53:41.767" v="262" actId="14100"/>
          <ac:picMkLst>
            <pc:docMk/>
            <pc:sldMk cId="1505980781" sldId="289"/>
            <ac:picMk id="3" creationId="{47742420-9051-F98A-29A6-A34D6C8D66A7}"/>
          </ac:picMkLst>
        </pc:picChg>
      </pc:sldChg>
      <pc:sldChg chg="addSp delSp modSp add mod">
        <pc:chgData name="Ruben Andujo" userId="c99a348103822942" providerId="LiveId" clId="{4E201F60-5F09-4D3E-A7BF-7C5A5C9B74F9}" dt="2026-01-31T21:55:51.893" v="296" actId="1076"/>
        <pc:sldMkLst>
          <pc:docMk/>
          <pc:sldMk cId="320650083" sldId="290"/>
        </pc:sldMkLst>
        <pc:spChg chg="mod">
          <ac:chgData name="Ruben Andujo" userId="c99a348103822942" providerId="LiveId" clId="{4E201F60-5F09-4D3E-A7BF-7C5A5C9B74F9}" dt="2026-01-31T21:55:51.893" v="296" actId="1076"/>
          <ac:spMkLst>
            <pc:docMk/>
            <pc:sldMk cId="320650083" sldId="290"/>
            <ac:spMk id="4" creationId="{090ED746-D276-6C3D-1683-C1F22864081E}"/>
          </ac:spMkLst>
        </pc:spChg>
        <pc:picChg chg="add mod">
          <ac:chgData name="Ruben Andujo" userId="c99a348103822942" providerId="LiveId" clId="{4E201F60-5F09-4D3E-A7BF-7C5A5C9B74F9}" dt="2026-01-31T21:54:26.007" v="268" actId="14100"/>
          <ac:picMkLst>
            <pc:docMk/>
            <pc:sldMk cId="320650083" sldId="290"/>
            <ac:picMk id="5" creationId="{9782A342-3D09-A8AE-8F83-3683D61557DF}"/>
          </ac:picMkLst>
        </pc:picChg>
      </pc:sldChg>
      <pc:sldChg chg="addSp delSp modSp add mod">
        <pc:chgData name="Ruben Andujo" userId="c99a348103822942" providerId="LiveId" clId="{4E201F60-5F09-4D3E-A7BF-7C5A5C9B74F9}" dt="2026-01-31T21:57:57.165" v="312" actId="1076"/>
        <pc:sldMkLst>
          <pc:docMk/>
          <pc:sldMk cId="1834885893" sldId="291"/>
        </pc:sldMkLst>
        <pc:spChg chg="mod">
          <ac:chgData name="Ruben Andujo" userId="c99a348103822942" providerId="LiveId" clId="{4E201F60-5F09-4D3E-A7BF-7C5A5C9B74F9}" dt="2026-01-31T21:57:57.165" v="312" actId="1076"/>
          <ac:spMkLst>
            <pc:docMk/>
            <pc:sldMk cId="1834885893" sldId="291"/>
            <ac:spMk id="4" creationId="{F7FF0E68-5050-22B1-A7F8-0FFA0396FE07}"/>
          </ac:spMkLst>
        </pc:spChg>
        <pc:picChg chg="add mod">
          <ac:chgData name="Ruben Andujo" userId="c99a348103822942" providerId="LiveId" clId="{4E201F60-5F09-4D3E-A7BF-7C5A5C9B74F9}" dt="2026-01-31T21:56:49.492" v="303" actId="14100"/>
          <ac:picMkLst>
            <pc:docMk/>
            <pc:sldMk cId="1834885893" sldId="291"/>
            <ac:picMk id="3" creationId="{A1BFA1F4-B2C2-BAAC-BD5E-B03DF461FB19}"/>
          </ac:picMkLst>
        </pc:picChg>
      </pc:sldChg>
      <pc:sldChg chg="modSp new mod">
        <pc:chgData name="Ruben Andujo" userId="c99a348103822942" providerId="LiveId" clId="{4E201F60-5F09-4D3E-A7BF-7C5A5C9B74F9}" dt="2026-01-31T22:06:59.899" v="336" actId="1076"/>
        <pc:sldMkLst>
          <pc:docMk/>
          <pc:sldMk cId="812275625" sldId="292"/>
        </pc:sldMkLst>
        <pc:spChg chg="mod">
          <ac:chgData name="Ruben Andujo" userId="c99a348103822942" providerId="LiveId" clId="{4E201F60-5F09-4D3E-A7BF-7C5A5C9B74F9}" dt="2026-01-31T22:06:59.899" v="336" actId="1076"/>
          <ac:spMkLst>
            <pc:docMk/>
            <pc:sldMk cId="812275625" sldId="292"/>
            <ac:spMk id="2" creationId="{43A8BC07-861B-7002-78CA-645863FE511E}"/>
          </ac:spMkLst>
        </pc:spChg>
        <pc:spChg chg="mod">
          <ac:chgData name="Ruben Andujo" userId="c99a348103822942" providerId="LiveId" clId="{4E201F60-5F09-4D3E-A7BF-7C5A5C9B74F9}" dt="2026-01-31T22:06:46.789" v="334" actId="1076"/>
          <ac:spMkLst>
            <pc:docMk/>
            <pc:sldMk cId="812275625" sldId="292"/>
            <ac:spMk id="3" creationId="{5CB1D983-9CC1-71B5-BF97-182622462B0C}"/>
          </ac:spMkLst>
        </pc:spChg>
      </pc:sldChg>
      <pc:sldChg chg="modSp new mod">
        <pc:chgData name="Ruben Andujo" userId="c99a348103822942" providerId="LiveId" clId="{4E201F60-5F09-4D3E-A7BF-7C5A5C9B74F9}" dt="2026-01-31T22:10:06.776" v="355" actId="255"/>
        <pc:sldMkLst>
          <pc:docMk/>
          <pc:sldMk cId="310235994" sldId="293"/>
        </pc:sldMkLst>
        <pc:spChg chg="mod">
          <ac:chgData name="Ruben Andujo" userId="c99a348103822942" providerId="LiveId" clId="{4E201F60-5F09-4D3E-A7BF-7C5A5C9B74F9}" dt="2026-01-31T22:10:06.776" v="355" actId="255"/>
          <ac:spMkLst>
            <pc:docMk/>
            <pc:sldMk cId="310235994" sldId="293"/>
            <ac:spMk id="2" creationId="{BB24DDB8-8624-01B3-746E-F8366E335195}"/>
          </ac:spMkLst>
        </pc:spChg>
        <pc:spChg chg="mod">
          <ac:chgData name="Ruben Andujo" userId="c99a348103822942" providerId="LiveId" clId="{4E201F60-5F09-4D3E-A7BF-7C5A5C9B74F9}" dt="2026-01-31T22:09:57.181" v="353" actId="27636"/>
          <ac:spMkLst>
            <pc:docMk/>
            <pc:sldMk cId="310235994" sldId="293"/>
            <ac:spMk id="3" creationId="{AB7834C5-23DC-7782-754A-4128413BA8A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B53F-FE0D-5658-2FAF-4ED925E7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5AC11-D3EF-90FC-B1C4-5D8610A26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AADF5-6916-2925-45DD-5FFFD904B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BE50-E53E-0CD8-8C10-F85442A13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91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CAE1-BCBA-B5F8-2992-8D642A0D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37E9-1806-A7C3-3D67-688875DB0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5B554-C06C-6EF2-033B-6F6DB33A3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B81F-452C-FBAA-E7F0-54D9619D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89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0635-BA1A-AD57-F371-1656828B0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1C10B-C404-8123-5682-ABBE68F24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56FF6-48A6-1D31-EFFC-A47A410A5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C4040-0A93-C6A5-B87F-F68366A7E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7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419E-9EE7-42CA-2F8B-7C54F705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91E28-5078-C3D6-CE42-ED6BB6F06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EE1BC-62F5-0B69-E7F1-F50E7B3DE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AB759-5AD5-531B-1DCF-F29D6A926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51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9D6E-F802-F39F-9C3F-A496CCF0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9DEA6-BD05-DA69-EC4A-B1F9461D7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16649-09CB-FB9A-F285-FC85E2B8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AE998-7AEB-D438-ADFE-848B0CF00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08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3128" y="513853"/>
            <a:ext cx="4582836" cy="2156610"/>
          </a:xfrm>
        </p:spPr>
        <p:txBody>
          <a:bodyPr anchor="ctr"/>
          <a:lstStyle/>
          <a:p>
            <a:r>
              <a:rPr lang="en-US" dirty="0"/>
              <a:t>Bellabeat Case Study: Smart Device Usage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7BA4B-89F9-7529-2E05-BCB3094E8709}"/>
              </a:ext>
            </a:extLst>
          </p:cNvPr>
          <p:cNvSpPr txBox="1"/>
          <p:nvPr/>
        </p:nvSpPr>
        <p:spPr>
          <a:xfrm>
            <a:off x="7522572" y="2784763"/>
            <a:ext cx="390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 Focus: Leaf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B5963-127B-807E-AA01-221A302737AB}"/>
              </a:ext>
            </a:extLst>
          </p:cNvPr>
          <p:cNvSpPr txBox="1"/>
          <p:nvPr/>
        </p:nvSpPr>
        <p:spPr>
          <a:xfrm>
            <a:off x="538022" y="5090360"/>
            <a:ext cx="209896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Prepared by: Ruben -Andujo </a:t>
            </a:r>
          </a:p>
          <a:p>
            <a:r>
              <a:rPr lang="en-US" dirty="0"/>
              <a:t>Date: 1-29-2026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BC07-861B-7002-78CA-645863FE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89" y="1898633"/>
            <a:ext cx="2296940" cy="681606"/>
          </a:xfrm>
        </p:spPr>
        <p:txBody>
          <a:bodyPr>
            <a:normAutofit/>
          </a:bodyPr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1D983-9CC1-71B5-BF97-18262246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70" y="3395866"/>
            <a:ext cx="4327556" cy="2960483"/>
          </a:xfrm>
        </p:spPr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Introduction &amp; Business Task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Data Source &amp; Preparation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Key Findings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Insights Summary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Recommendations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Arial" panose="020B0604020202020204" pitchFamily="34" charset="0"/>
              </a:rPr>
              <a:t>Closing &amp; Next Steps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D070-8AB0-33B0-F030-D1FE0EA3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7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5814" y="218209"/>
            <a:ext cx="4230832" cy="861399"/>
          </a:xfrm>
        </p:spPr>
        <p:txBody>
          <a:bodyPr/>
          <a:lstStyle/>
          <a:p>
            <a:r>
              <a:rPr lang="en-US" dirty="0"/>
              <a:t>Business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5ABF1-0B28-9A2C-6D66-FF0BBD2653F8}"/>
              </a:ext>
            </a:extLst>
          </p:cNvPr>
          <p:cNvSpPr txBox="1"/>
          <p:nvPr/>
        </p:nvSpPr>
        <p:spPr>
          <a:xfrm>
            <a:off x="0" y="2114552"/>
            <a:ext cx="49720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Objective:</a:t>
            </a:r>
            <a:br>
              <a:rPr lang="en-US" b="1" dirty="0"/>
            </a:br>
            <a:r>
              <a:rPr lang="en-US" b="1" dirty="0"/>
              <a:t>Analyze smart device usage data to uncover behavioral patterns and guide </a:t>
            </a:r>
            <a:r>
              <a:rPr lang="en-US" b="1" dirty="0" err="1"/>
              <a:t>Bellabeat’s</a:t>
            </a:r>
            <a:r>
              <a:rPr lang="en-US" b="1" dirty="0"/>
              <a:t> marketing strategy.</a:t>
            </a:r>
          </a:p>
          <a:p>
            <a:r>
              <a:rPr lang="en-US" sz="2200" b="1" dirty="0"/>
              <a:t>Context:</a:t>
            </a:r>
            <a:br>
              <a:rPr lang="en-US" b="1" dirty="0"/>
            </a:br>
            <a:r>
              <a:rPr lang="en-US" b="1" dirty="0"/>
              <a:t>Bellabeat aims to expand its presence in the global smart device market.</a:t>
            </a:r>
            <a:br>
              <a:rPr lang="en-US" b="1" dirty="0"/>
            </a:br>
            <a:r>
              <a:rPr lang="en-US" b="1" dirty="0"/>
              <a:t>Urška Sršen believes that fitness data can unlock new growth opportunities.</a:t>
            </a:r>
          </a:p>
          <a:p>
            <a:r>
              <a:rPr lang="en-US" sz="2200" b="1" dirty="0"/>
              <a:t>My Role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US" b="1" dirty="0"/>
              <a:t>As a junior data analyst on the marketing analytics team, I was tasked with extracting insights from smart device data and presenting high-level findings to the Bellabeat executive team.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DDB8-8624-01B3-746E-F8366E33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58" y="1065712"/>
            <a:ext cx="2895600" cy="1325563"/>
          </a:xfrm>
        </p:spPr>
        <p:txBody>
          <a:bodyPr/>
          <a:lstStyle/>
          <a:p>
            <a:r>
              <a:rPr lang="en-US" dirty="0"/>
              <a:t>Data </a:t>
            </a:r>
            <a:r>
              <a:rPr lang="en-US" sz="3200" dirty="0"/>
              <a:t>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34C5-23DC-7782-754A-4128413B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3" y="2855082"/>
            <a:ext cx="4173648" cy="326958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Smart device usage data provided for the Bellabeat case study.</a:t>
            </a:r>
          </a:p>
          <a:p>
            <a:br>
              <a:rPr lang="en-US" sz="2400" dirty="0"/>
            </a:br>
            <a:r>
              <a:rPr lang="en-US" sz="2400" dirty="0"/>
              <a:t>Includes daily activity metrics such as steps, calories, and activity intensity.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DE966-5013-C41B-1C5D-F35C7812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18792"/>
            <a:ext cx="5743500" cy="467219"/>
          </a:xfrm>
        </p:spPr>
        <p:txBody>
          <a:bodyPr>
            <a:noAutofit/>
          </a:bodyPr>
          <a:lstStyle/>
          <a:p>
            <a:r>
              <a:rPr lang="en-US" sz="3600" dirty="0"/>
              <a:t>PREPARATION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94A71A-C794-01F5-8101-4A022F60A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1290" y="3610220"/>
            <a:ext cx="5133830" cy="2327565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000" dirty="0"/>
              <a:t>Tools Used:</a:t>
            </a:r>
          </a:p>
          <a:p>
            <a:r>
              <a:rPr lang="en-US" sz="2000" dirty="0"/>
              <a:t>R for data cleaning, transformation, and exploratory visuals</a:t>
            </a:r>
          </a:p>
          <a:p>
            <a:r>
              <a:rPr lang="en-US" sz="2000" dirty="0"/>
              <a:t>Tableau planned for executive-ready dashboards</a:t>
            </a:r>
          </a:p>
          <a:p>
            <a:endParaRPr lang="en-US" sz="20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78ECBE2-4F47-71EF-A64B-FD63B9113463}"/>
              </a:ext>
            </a:extLst>
          </p:cNvPr>
          <p:cNvSpPr txBox="1">
            <a:spLocks/>
          </p:cNvSpPr>
          <p:nvPr/>
        </p:nvSpPr>
        <p:spPr>
          <a:xfrm>
            <a:off x="1239191" y="726671"/>
            <a:ext cx="7288212" cy="340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bg1"/>
                </a:solidFill>
              </a:rPr>
              <a:t>Preparation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21E24-FA8A-7C7B-7FF5-04141276225F}"/>
              </a:ext>
            </a:extLst>
          </p:cNvPr>
          <p:cNvSpPr txBox="1"/>
          <p:nvPr/>
        </p:nvSpPr>
        <p:spPr>
          <a:xfrm>
            <a:off x="1653854" y="1401122"/>
            <a:ext cx="923405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Merged Multiple CSVs into a unified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Validated column structure and data integrity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Converted time stamps and added day-of-week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Exported modular .</a:t>
            </a:r>
            <a:r>
              <a:rPr lang="en-US" sz="2400" dirty="0" err="1"/>
              <a:t>rds</a:t>
            </a:r>
            <a:r>
              <a:rPr lang="en-US" sz="2400" dirty="0"/>
              <a:t> files for clean analysis in r studio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7259" y="-374072"/>
            <a:ext cx="4334741" cy="1464071"/>
          </a:xfrm>
        </p:spPr>
        <p:txBody>
          <a:bodyPr/>
          <a:lstStyle/>
          <a:p>
            <a:r>
              <a:rPr lang="en-US" dirty="0"/>
              <a:t>KEY FINDINGS,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E03F4-B214-ACAF-26F9-F610EE587596}"/>
              </a:ext>
            </a:extLst>
          </p:cNvPr>
          <p:cNvSpPr txBox="1"/>
          <p:nvPr/>
        </p:nvSpPr>
        <p:spPr>
          <a:xfrm>
            <a:off x="6416385" y="1309255"/>
            <a:ext cx="54604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Users show low overall movement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Most daily step totals fall well below the commonly referenced 10,000‑step benchmark used in consumer fitness contexts.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2. Activity peaks mid‑week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Wednesday consistently shows the highest step counts across the dataset.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3. Weekends show a noticeable drop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Saturday and Sunday activity levels decline, suggesting reduced structured movement outside weekday routines.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4. High‑intensity activity is uncommon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Most logged minutes fall into light or moderate intensity, with very few high‑intensity minutes recorded.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90C86F-6C31-7ACA-A7B4-4CB511A7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935" y="526339"/>
            <a:ext cx="7324254" cy="15861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/>
              <a:t>Daily Step Trends 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1600" b="1" dirty="0"/>
              <a:t>Daily step patterns show consistent activity with clear peaks and dips, giving us a baseline for overall movement habits. This sets the foundation for understanding how intensity and calorie burn develop across the week.</a:t>
            </a:r>
            <a:br>
              <a:rPr lang="en-US" sz="2400" b="1" dirty="0"/>
            </a:b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5C368-2401-76F8-A48B-890E544A4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87" y="2112463"/>
            <a:ext cx="9666083" cy="43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A893-EFD5-894D-BE6B-1B07ABD1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93E3D6-4673-0230-22B4-8994CF6E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7F9BF7-2EEA-C9D3-E5F8-74423F41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186" y="99588"/>
            <a:ext cx="7396678" cy="22452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Daily Steps Distribution 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000" b="1" dirty="0"/>
              <a:t>Step counts cluster around a consistent daily range, with occasional spikes. This reinforces the baseline and highlights variability that may signal changes in routine or motivation.</a:t>
            </a:r>
            <a:br>
              <a:rPr lang="en-US" sz="2400" b="1" dirty="0"/>
            </a:br>
            <a:br>
              <a:rPr lang="en-US" sz="2400" b="1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ACB55-318E-7CBF-259E-F39ADB75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85" y="2541608"/>
            <a:ext cx="8879628" cy="398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8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03D6-7598-5AA9-5657-A843CAB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BE48857-2297-B491-CAD4-0507E501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1A7EBE-678C-3DD8-0951-03662D30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560" y="108642"/>
            <a:ext cx="6771990" cy="28608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Active Minutes by Intensity</a:t>
            </a:r>
            <a:br>
              <a:rPr lang="en-US" sz="2700" b="1" dirty="0"/>
            </a:br>
            <a:br>
              <a:rPr lang="en-US" sz="2700" b="1" dirty="0"/>
            </a:br>
            <a:r>
              <a:rPr lang="en-US" sz="2000" b="1" dirty="0"/>
              <a:t>Active minutes break cleanly across intensity levels, showing how effort is distributed throughout the day. This helps us understand where meaningful activity is actually happening.</a:t>
            </a:r>
            <a:br>
              <a:rPr lang="en-US" sz="2000" b="1" dirty="0"/>
            </a:br>
            <a:br>
              <a:rPr lang="en-US" sz="2000" b="1" dirty="0"/>
            </a:br>
            <a:br>
              <a:rPr lang="en-US" sz="2400" b="1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6C3B7-AFFC-82EB-5696-76D8F6E34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35" y="2531363"/>
            <a:ext cx="8843315" cy="39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69867-D893-391D-96C7-13C7D2D7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291D87-9B5F-DB5D-EBB0-6EC22E6A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3CC4DD-6EEF-365E-FFB7-776ADB26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21" y="583949"/>
            <a:ext cx="9352230" cy="31053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Intensity Distribution</a:t>
            </a:r>
            <a:br>
              <a:rPr lang="en-US" sz="2700" b="1" dirty="0"/>
            </a:br>
            <a:br>
              <a:rPr lang="en-US" sz="2000" b="1" dirty="0"/>
            </a:br>
            <a:r>
              <a:rPr lang="en-US" sz="2000" b="1" dirty="0"/>
              <a:t>Total active minutes are concentrated in lower‑intensity zones, with smaller but meaningful contributions from higher‑intensity activity. This helps clarify where most effort is actually being spent.</a:t>
            </a: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400" b="1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742420-9051-F98A-29A6-A34D6C8D6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39823"/>
            <a:ext cx="6672404" cy="45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8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29AC-32B2-38E0-1908-DDBFE5F8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C1F261-5007-E135-1A64-B1EEEEB7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0ED746-D276-6C3D-1683-C1F22864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96" y="471504"/>
            <a:ext cx="9352230" cy="31053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Steps vs Calories </a:t>
            </a:r>
            <a:br>
              <a:rPr lang="en-US" sz="2700" b="1" dirty="0"/>
            </a:br>
            <a:br>
              <a:rPr lang="en-US" sz="2000" b="1" dirty="0"/>
            </a:br>
            <a:r>
              <a:rPr lang="en-US" sz="2000" b="1" dirty="0"/>
              <a:t>Higher step counts consistently align with higher calorie burn, showing a clear relationship between movement volume and energy output.</a:t>
            </a: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400" b="1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2A342-3D09-A8AE-8F83-3683D615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705" y="1842398"/>
            <a:ext cx="6263317" cy="44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C886-EA22-60A2-A351-77A0627E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02E0F3-ADE7-24F0-5418-FEDE0C48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FF0E68-5050-22B1-A7F8-0FFA0396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173" y="733332"/>
            <a:ext cx="7985155" cy="267910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Activity patterns, intensity distribution, and calorie output reveal clear opportunities for optimizing daily movement and overall health.</a:t>
            </a: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400" b="1" dirty="0"/>
            </a:b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FA1F4-B2C2-BAAC-BD5E-B03DF461F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600" y="1917273"/>
            <a:ext cx="7250303" cy="42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983" y="538019"/>
            <a:ext cx="3843944" cy="615372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31627" y="1555518"/>
            <a:ext cx="5532118" cy="3211022"/>
          </a:xfrm>
        </p:spPr>
        <p:txBody>
          <a:bodyPr>
            <a:normAutofit/>
          </a:bodyPr>
          <a:lstStyle/>
          <a:p>
            <a:r>
              <a:rPr lang="en-US" b="1" dirty="0"/>
              <a:t>3. Launch Habit‑Building Features</a:t>
            </a:r>
          </a:p>
          <a:p>
            <a:r>
              <a:rPr lang="en-US" b="1" dirty="0"/>
              <a:t>Incorporate streaks, badges, and weekly challenges to reinforce consistent movement and increase user engagement.</a:t>
            </a:r>
          </a:p>
          <a:p>
            <a:r>
              <a:rPr lang="en-US" b="1" dirty="0"/>
              <a:t>4. Highlight Mid‑Week Momentum</a:t>
            </a:r>
          </a:p>
          <a:p>
            <a:r>
              <a:rPr lang="en-US" b="1" dirty="0"/>
              <a:t>Leverage Wednesday’s natural activity peak by promoting mid‑week challenges or motivational prompts to amplify existing behavior patterns.</a:t>
            </a:r>
          </a:p>
          <a:p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62959" y="6325176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5E825-3283-28E1-D91A-FB1DFB16BE4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15637" y="1586687"/>
            <a:ext cx="4966854" cy="32110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Introduce Personalized Daily Step Goals</a:t>
            </a:r>
          </a:p>
          <a:p>
            <a:pPr marL="0" indent="0">
              <a:buNone/>
            </a:pPr>
            <a:r>
              <a:rPr lang="en-US" b="1" dirty="0"/>
              <a:t>Use each user’s baseline activity to generate achievable, adaptive goals that gradually increase toward healthier movement patterns.</a:t>
            </a:r>
          </a:p>
          <a:p>
            <a:pPr marL="0" indent="0">
              <a:buNone/>
            </a:pPr>
            <a:r>
              <a:rPr lang="en-US" b="1" dirty="0"/>
              <a:t>2. Implement Smart Activity Nudges</a:t>
            </a:r>
          </a:p>
          <a:p>
            <a:pPr marL="0" indent="0">
              <a:buNone/>
            </a:pPr>
            <a:r>
              <a:rPr lang="en-US" b="1" dirty="0"/>
              <a:t>Deliver context‑aware reminders (time‑of‑day, inactivity duration, weekday patterns) to encourage movement during low‑activity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61554" y="1483013"/>
            <a:ext cx="5032663" cy="4096905"/>
          </a:xfrm>
        </p:spPr>
        <p:txBody>
          <a:bodyPr>
            <a:normAutofit/>
          </a:bodyPr>
          <a:lstStyle/>
          <a:p>
            <a:r>
              <a:rPr lang="en-US" b="1" dirty="0"/>
              <a:t>1. Implement Personalized Goal Logic</a:t>
            </a:r>
          </a:p>
          <a:p>
            <a:r>
              <a:rPr lang="en-US" b="1" dirty="0"/>
              <a:t>Begin development of adaptive daily step goals based on each user’s baseline activity.</a:t>
            </a:r>
            <a:br>
              <a:rPr lang="en-US" b="1" dirty="0"/>
            </a:br>
            <a:r>
              <a:rPr lang="en-US" b="1" dirty="0"/>
              <a:t>This creates the foundation for habit‑building and future engagement features.</a:t>
            </a:r>
          </a:p>
          <a:p>
            <a:r>
              <a:rPr lang="en-US" b="1" dirty="0"/>
              <a:t>2. Deploy Smart Nudge Framework</a:t>
            </a:r>
          </a:p>
          <a:p>
            <a:r>
              <a:rPr lang="en-US" b="1" dirty="0"/>
              <a:t>Design and test context‑aware reminders triggered by inactivity patterns, time‑of‑day, and weekday behavior.</a:t>
            </a:r>
            <a:br>
              <a:rPr lang="en-US" b="1" dirty="0"/>
            </a:br>
            <a:r>
              <a:rPr lang="en-US" b="1" dirty="0"/>
              <a:t>This directly addresses the low‑movement finding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6A861-78CC-BFAF-72EA-0CCFB7CADA84}"/>
              </a:ext>
            </a:extLst>
          </p:cNvPr>
          <p:cNvSpPr txBox="1"/>
          <p:nvPr/>
        </p:nvSpPr>
        <p:spPr>
          <a:xfrm>
            <a:off x="6270674" y="1483013"/>
            <a:ext cx="50902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Build Engagement Layer (Streaks, Badges, Challenges)</a:t>
            </a:r>
          </a:p>
          <a:p>
            <a:endParaRPr lang="en-US" b="1" dirty="0"/>
          </a:p>
          <a:p>
            <a:r>
              <a:rPr lang="en-US" b="1" dirty="0"/>
              <a:t>Introduce lightweight gamification to reinforce consistent movement and capitalize on mid‑week momentum.</a:t>
            </a:r>
          </a:p>
          <a:p>
            <a:r>
              <a:rPr lang="en-US" b="1" dirty="0"/>
              <a:t>4. Validate Impact Through A/B Testing</a:t>
            </a:r>
          </a:p>
          <a:p>
            <a:endParaRPr lang="en-US" b="1" dirty="0"/>
          </a:p>
          <a:p>
            <a:r>
              <a:rPr lang="en-US" b="1" dirty="0"/>
              <a:t>Run controlled experiments to measure changes in daily steps, app engagement, and retention after feature rollout.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1D553-7D50-7A9D-7E7C-BDBA1A2CD79F}"/>
              </a:ext>
            </a:extLst>
          </p:cNvPr>
          <p:cNvSpPr txBox="1"/>
          <p:nvPr/>
        </p:nvSpPr>
        <p:spPr>
          <a:xfrm>
            <a:off x="3827078" y="415636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ACT — NEXT STEPS</a:t>
            </a:r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Ruben Andujo</a:t>
            </a:r>
          </a:p>
          <a:p>
            <a:r>
              <a:rPr lang="en-US" dirty="0"/>
              <a:t>randujo2742@gmail</a:t>
            </a:r>
            <a:r>
              <a:rPr lang="en-US"/>
              <a:t>.com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{4910AA90-ABC6-4D66-A16E-8B8888A61785}TF7521aafa-c748-4c40-a498-ba511be234dc5b1b6097_win32-5039330bb2f3</Template>
  <TotalTime>180</TotalTime>
  <Words>795</Words>
  <Application>Microsoft Office PowerPoint</Application>
  <PresentationFormat>Widescreen</PresentationFormat>
  <Paragraphs>91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Bellabeat Case Study: Smart Device Usage Analysis</vt:lpstr>
      <vt:lpstr>AGENDA</vt:lpstr>
      <vt:lpstr>Business Task</vt:lpstr>
      <vt:lpstr>Data Source</vt:lpstr>
      <vt:lpstr>PREPARATION</vt:lpstr>
      <vt:lpstr>KEY FINDINGS, ACTIVITY</vt:lpstr>
      <vt:lpstr>Daily Step Trends   Daily step patterns show consistent activity with clear peaks and dips, giving us a baseline for overall movement habits. This sets the foundation for understanding how intensity and calorie burn develop across the week. </vt:lpstr>
      <vt:lpstr>Daily Steps Distribution   Step counts cluster around a consistent daily range, with occasional spikes. This reinforces the baseline and highlights variability that may signal changes in routine or motivation.  </vt:lpstr>
      <vt:lpstr>Active Minutes by Intensity  Active minutes break cleanly across intensity levels, showing how effort is distributed throughout the day. This helps us understand where meaningful activity is actually happening.   </vt:lpstr>
      <vt:lpstr>Intensity Distribution  Total active minutes are concentrated in lower‑intensity zones, with smaller but meaningful contributions from higher‑intensity activity. This helps clarify where most effort is actually being spent.      </vt:lpstr>
      <vt:lpstr>Steps vs Calories   Higher step counts consistently align with higher calorie burn, showing a clear relationship between movement volume and energy output.       </vt:lpstr>
      <vt:lpstr>Activity patterns, intensity distribution, and calorie output reveal clear opportunities for optimizing daily movement and overall health.       </vt:lpstr>
      <vt:lpstr>RECOMMENDATIONS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Andujo</dc:creator>
  <cp:lastModifiedBy>Ruben Andujo</cp:lastModifiedBy>
  <cp:revision>1</cp:revision>
  <dcterms:created xsi:type="dcterms:W3CDTF">2026-01-29T21:27:45Z</dcterms:created>
  <dcterms:modified xsi:type="dcterms:W3CDTF">2026-02-04T17:48:55Z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